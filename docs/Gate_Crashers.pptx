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725c68d-10e3-333a-7643-76afe6992aba}">
          <p14:sldIdLst>
            <p14:sldId id="256"/>
          </p14:sldIdLst>
        </p14:section>
        <p14:section name="Problem and method" id="{0cf2500e-79a9-8694-9b0f-239eb04b8ffb}">
          <p14:sldIdLst>
            <p14:sldId id="257"/>
            <p14:sldId id="258"/>
            <p14:sldId id="259"/>
            <p14:sldId id="260"/>
            <p14:sldId id="261"/>
          </p14:sldIdLst>
        </p14:section>
        <p14:section name="Results" id="{3f0e2720-e37d-868a-db7b-5f1c1f063395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7401f274-50f6-bf95-4618-a55f19a77e81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2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A2233"/>
                </a:solidFill>
                <a:latin typeface="+mn-lt"/>
              </a:rPr>
              <a:t>Per-gate success (%) vs gate peak speed (m/s), random phase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predictive (ours)</c:v>
                </c:pt>
              </c:strCache>
            </c:strRef>
          </c:tx>
          <c:spPr>
            <a:solidFill>
              <a:srgbClr val="2E9E5B"/>
            </a:solidFill>
            <a:ln w="38100" cap="flat">
              <a:solidFill>
                <a:srgbClr val="2E9E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9E5B"/>
              </a:solidFill>
              <a:ln w="9525" cap="flat">
                <a:solidFill>
                  <a:srgbClr val="2E9E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0.31</c:v>
                  </c:pt>
                  <c:pt idx="1">
                    <c:v>0.52</c:v>
                  </c:pt>
                  <c:pt idx="2">
                    <c:v>0.79</c:v>
                  </c:pt>
                  <c:pt idx="3">
                    <c:v>1.05</c:v>
                  </c:pt>
                  <c:pt idx="4">
                    <c:v>1.57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</c:v>
                </c:pt>
                <c:pt idx="1">
                  <c:v>86</c:v>
                </c:pt>
                <c:pt idx="2">
                  <c:v>89</c:v>
                </c:pt>
                <c:pt idx="3">
                  <c:v>83</c:v>
                </c:pt>
                <c:pt idx="4">
                  <c:v>70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filtered only</c:v>
                </c:pt>
              </c:strCache>
            </c:strRef>
          </c:tx>
          <c:spPr>
            <a:solidFill>
              <a:srgbClr val="F5A623"/>
            </a:solidFill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0.31</c:v>
                  </c:pt>
                  <c:pt idx="1">
                    <c:v>0.52</c:v>
                  </c:pt>
                  <c:pt idx="2">
                    <c:v>0.79</c:v>
                  </c:pt>
                  <c:pt idx="3">
                    <c:v>1.05</c:v>
                  </c:pt>
                  <c:pt idx="4">
                    <c:v>1.57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72</c:v>
                </c:pt>
                <c:pt idx="1">
                  <c:v>42</c:v>
                </c:pt>
                <c:pt idx="2">
                  <c:v>36</c:v>
                </c:pt>
                <c:pt idx="3">
                  <c:v>25</c:v>
                </c:pt>
                <c:pt idx="4">
                  <c:v>29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naive raw</c:v>
                </c:pt>
              </c:strCache>
            </c:strRef>
          </c:tx>
          <c:spPr>
            <a:solidFill>
              <a:srgbClr val="E4572E"/>
            </a:solidFill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0.31</c:v>
                  </c:pt>
                  <c:pt idx="1">
                    <c:v>0.52</c:v>
                  </c:pt>
                  <c:pt idx="2">
                    <c:v>0.79</c:v>
                  </c:pt>
                  <c:pt idx="3">
                    <c:v>1.05</c:v>
                  </c:pt>
                  <c:pt idx="4">
                    <c:v>1.57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68</c:v>
                </c:pt>
                <c:pt idx="1">
                  <c:v>42</c:v>
                </c:pt>
                <c:pt idx="2">
                  <c:v>35</c:v>
                </c:pt>
                <c:pt idx="3">
                  <c:v>24</c:v>
                </c:pt>
                <c:pt idx="4">
                  <c:v>26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9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1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9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2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Software-only simulation. Everything shown is reproduced by run_all.py.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panel: controller step response (final error 0.0000 m). Feedforward removes lag on moving references; the clip keeps the linear model valid.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Gate-Crashers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3"/>
                </a:solidFill>
              </a:rPr>
              <a:t>Predicting moving gates with a Kalman filter and flying through them with a min-jerk quadrotor planner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Ankita Mehta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B.Tech Robotics &amp; Automation, SIT Pune  |  Motion Planning &amp; Control (TE7864)</a:t>
            </a:r>
            <a:endParaRPr lang="en-US" sz="1400" dirty="0"/>
          </a:p>
        </p:txBody>
      </p:sp>
      <p:sp>
        <p:nvSpPr>
          <p:cNvPr id="5" name="motif-ring"/>
          <p:cNvSpPr/>
          <p:nvPr/>
        </p:nvSpPr>
        <p:spPr>
          <a:xfrm>
            <a:off x="7315200" y="457200"/>
            <a:ext cx="1280160" cy="12801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motif-hole"/>
          <p:cNvSpPr/>
          <p:nvPr/>
        </p:nvSpPr>
        <p:spPr>
          <a:xfrm>
            <a:off x="7543800" y="685800"/>
            <a:ext cx="822960" cy="8229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fly through gates that move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233"/>
                </a:solidFill>
              </a:rPr>
              <a:t>A quadrotor must pass through a gate that slides sideways like a sine wave (±1 m, 6 s period)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233"/>
                </a:solidFill>
              </a:rPr>
              <a:t>The camera gives only noisy POSITION (5 cm std) - no velocity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233"/>
                </a:solidFill>
              </a:rPr>
              <a:t>Success = at the crossing instant, the drone is within 0.3 m of the gate's true centre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233"/>
                </a:solidFill>
              </a:rPr>
              <a:t>Then repeat for 3 gates in a row</a:t>
            </a:r>
            <a:endParaRPr lang="en-US" sz="1600" dirty="0"/>
          </a:p>
        </p:txBody>
      </p:sp>
      <p:sp>
        <p:nvSpPr>
          <p:cNvPr id="4" name="stat-card-0"/>
          <p:cNvSpPr/>
          <p:nvPr/>
        </p:nvSpPr>
        <p:spPr>
          <a:xfrm>
            <a:off x="5760720" y="1188720"/>
            <a:ext cx="2926080" cy="868680"/>
          </a:xfrm>
          <a:prstGeom prst="roundRect">
            <a:avLst>
              <a:gd name="adj" fmla="val 1052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0" y="12344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±1 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12344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</a:rPr>
              <a:t>gate slide</a:t>
            </a:r>
            <a:endParaRPr lang="en-US" sz="1400" dirty="0"/>
          </a:p>
        </p:txBody>
      </p:sp>
      <p:sp>
        <p:nvSpPr>
          <p:cNvPr id="7" name="stat-card-1"/>
          <p:cNvSpPr/>
          <p:nvPr/>
        </p:nvSpPr>
        <p:spPr>
          <a:xfrm>
            <a:off x="5760720" y="2240280"/>
            <a:ext cx="2926080" cy="868680"/>
          </a:xfrm>
          <a:prstGeom prst="roundRect">
            <a:avLst>
              <a:gd name="adj" fmla="val 1052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0" y="22860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cm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2860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</a:rPr>
              <a:t>sensor noise</a:t>
            </a:r>
            <a:endParaRPr lang="en-US" sz="1400" dirty="0"/>
          </a:p>
        </p:txBody>
      </p:sp>
      <p:sp>
        <p:nvSpPr>
          <p:cNvPr id="10" name="stat-card-2"/>
          <p:cNvSpPr/>
          <p:nvPr/>
        </p:nvSpPr>
        <p:spPr>
          <a:xfrm>
            <a:off x="5760720" y="3291840"/>
            <a:ext cx="2926080" cy="868680"/>
          </a:xfrm>
          <a:prstGeom prst="roundRect">
            <a:avLst>
              <a:gd name="adj" fmla="val 1052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33375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 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3375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</a:rPr>
              <a:t>success radius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pipeline: sense, estimate, plan, control</a:t>
            </a:r>
            <a:endParaRPr lang="en-US" sz="3000" dirty="0"/>
          </a:p>
        </p:txBody>
      </p:sp>
      <p:sp>
        <p:nvSpPr>
          <p:cNvPr id="3" name="step-0"/>
          <p:cNvSpPr/>
          <p:nvPr/>
        </p:nvSpPr>
        <p:spPr>
          <a:xfrm>
            <a:off x="457200" y="1371600"/>
            <a:ext cx="1481328" cy="2103120"/>
          </a:xfrm>
          <a:prstGeom prst="roundRect">
            <a:avLst>
              <a:gd name="adj" fmla="val 61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965960"/>
            <a:ext cx="13898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233"/>
                </a:solidFill>
              </a:rPr>
              <a:t>noisy gate position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2233"/>
                </a:solidFill>
              </a:rPr>
              <a:t>(100 Hz)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1752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gate.py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901952" y="1828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›</a:t>
            </a:r>
            <a:endParaRPr lang="en-US" sz="2800" dirty="0"/>
          </a:p>
        </p:txBody>
      </p:sp>
      <p:sp>
        <p:nvSpPr>
          <p:cNvPr id="8" name="step-1"/>
          <p:cNvSpPr/>
          <p:nvPr/>
        </p:nvSpPr>
        <p:spPr>
          <a:xfrm>
            <a:off x="2121408" y="1371600"/>
            <a:ext cx="1481328" cy="2103120"/>
          </a:xfrm>
          <a:prstGeom prst="roundRect">
            <a:avLst>
              <a:gd name="adj" fmla="val 617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21408" y="14630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167128" y="1965960"/>
            <a:ext cx="13898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Kalman filter: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position + velocity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21408" y="301752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kalman.py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1828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›</a:t>
            </a:r>
            <a:endParaRPr lang="en-US" sz="2800" dirty="0"/>
          </a:p>
        </p:txBody>
      </p:sp>
      <p:sp>
        <p:nvSpPr>
          <p:cNvPr id="13" name="step-2"/>
          <p:cNvSpPr/>
          <p:nvPr/>
        </p:nvSpPr>
        <p:spPr>
          <a:xfrm>
            <a:off x="3785616" y="1371600"/>
            <a:ext cx="1481328" cy="2103120"/>
          </a:xfrm>
          <a:prstGeom prst="roundRect">
            <a:avLst>
              <a:gd name="adj" fmla="val 617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85616" y="14630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831336" y="1965960"/>
            <a:ext cx="13898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min-jerk quintic 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predicted gate state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785616" y="301752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planner.py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230368" y="1828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›</a:t>
            </a:r>
            <a:endParaRPr lang="en-US" sz="2800" dirty="0"/>
          </a:p>
        </p:txBody>
      </p:sp>
      <p:sp>
        <p:nvSpPr>
          <p:cNvPr id="18" name="step-3"/>
          <p:cNvSpPr/>
          <p:nvPr/>
        </p:nvSpPr>
        <p:spPr>
          <a:xfrm>
            <a:off x="5449824" y="1371600"/>
            <a:ext cx="1481328" cy="2103120"/>
          </a:xfrm>
          <a:prstGeom prst="roundRect">
            <a:avLst>
              <a:gd name="adj" fmla="val 61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49824" y="14630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495544" y="1965960"/>
            <a:ext cx="13898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233"/>
                </a:solidFill>
              </a:rPr>
              <a:t>feedforward + PD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2233"/>
                </a:solidFill>
              </a:rPr>
              <a:t>on tilt angles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49824" y="301752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controller.py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94576" y="1828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›</a:t>
            </a:r>
            <a:endParaRPr lang="en-US" sz="2800" dirty="0"/>
          </a:p>
        </p:txBody>
      </p:sp>
      <p:sp>
        <p:nvSpPr>
          <p:cNvPr id="23" name="step-4"/>
          <p:cNvSpPr/>
          <p:nvPr/>
        </p:nvSpPr>
        <p:spPr>
          <a:xfrm>
            <a:off x="7114032" y="1371600"/>
            <a:ext cx="1481328" cy="2103120"/>
          </a:xfrm>
          <a:prstGeom prst="roundRect">
            <a:avLst>
              <a:gd name="adj" fmla="val 61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14032" y="14630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Fly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159752" y="1965960"/>
            <a:ext cx="13898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233"/>
                </a:solidFill>
              </a:rPr>
              <a:t>linearised quadrotor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2233"/>
                </a:solidFill>
              </a:rPr>
              <a:t>RK4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14032" y="301752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dynamics.py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0"/>
                </a:solidFill>
              </a:rPr>
              <a:t>pipeline.py wires these together; the run scripts test them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and controller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</a:rPr>
              <a:t>Hover-linearised quadrotor (small angles)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ẍ = g·θ    ÿ = −g·φ    z̈ = a_z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</a:rPr>
              <a:t>Feedforward + PD tracking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a_ref + Kp(p_ref−p) + Kd(v_ref−v)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</a:rPr>
              <a:t>Kp = 8, Kd = 4, tilt clipped to ±25°</a:t>
            </a:r>
            <a:endParaRPr lang="en-US" sz="1500" dirty="0"/>
          </a:p>
        </p:txBody>
      </p:sp>
      <p:pic>
        <p:nvPicPr>
          <p:cNvPr id="4" name="Image 0" descr="/mnt/user-data/outputs/MPC_FINAL/results/1_compon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697480"/>
            <a:ext cx="8229600" cy="21540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Kalman filter: estimating velocity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Constant-velocity model, 6 states, position-only measurement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Process noise Q = q·[dt³/3  dt²/2; dt²/2  dt] (white-noise acceleration)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Our first diagonal Q gave a velocity error 3.5x worse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Gate is really a sine, so q = 0.1 absorbs the model error</a:t>
            </a:r>
            <a:endParaRPr lang="en-US" sz="1500" dirty="0"/>
          </a:p>
        </p:txBody>
      </p:sp>
      <p:sp>
        <p:nvSpPr>
          <p:cNvPr id="4" name="kf-stat-0"/>
          <p:cNvSpPr/>
          <p:nvPr/>
        </p:nvSpPr>
        <p:spPr>
          <a:xfrm>
            <a:off x="5760720" y="1280160"/>
            <a:ext cx="2926080" cy="1325880"/>
          </a:xfrm>
          <a:prstGeom prst="roundRect">
            <a:avLst>
              <a:gd name="adj" fmla="val 689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0" y="1325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0.018 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965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filtered position error (raw sensor 0.051 m)</a:t>
            </a:r>
            <a:endParaRPr lang="en-US" sz="1300" dirty="0"/>
          </a:p>
        </p:txBody>
      </p:sp>
      <p:sp>
        <p:nvSpPr>
          <p:cNvPr id="7" name="kf-stat-1"/>
          <p:cNvSpPr/>
          <p:nvPr/>
        </p:nvSpPr>
        <p:spPr>
          <a:xfrm>
            <a:off x="5760720" y="2834640"/>
            <a:ext cx="2926080" cy="1325880"/>
          </a:xfrm>
          <a:prstGeom prst="roundRect">
            <a:avLst>
              <a:gd name="adj" fmla="val 689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0" y="2880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 m/s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velocity error, with no velocity sensor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Min-jerk trajectory: why a quintic</a:t>
            </a:r>
            <a:endParaRPr lang="en-US" sz="3000" dirty="0"/>
          </a:p>
        </p:txBody>
      </p:sp>
      <p:sp>
        <p:nvSpPr>
          <p:cNvPr id="3" name="q-num-0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3"/>
                </a:solidFill>
              </a:rPr>
              <a:t>Minimise ∫ (x‴)² dt</a:t>
            </a:r>
            <a:endParaRPr lang="en-US" sz="1600" dirty="0"/>
          </a:p>
        </p:txBody>
      </p:sp>
      <p:sp>
        <p:nvSpPr>
          <p:cNvPr id="6" name="q-num-1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470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3"/>
                </a:solidFill>
              </a:rPr>
              <a:t>Euler-Lagrange gives x⁽⁶⁾(t) = 0</a:t>
            </a:r>
            <a:endParaRPr lang="en-US" sz="1600" dirty="0"/>
          </a:p>
        </p:txBody>
      </p:sp>
      <p:sp>
        <p:nvSpPr>
          <p:cNvPr id="9" name="q-num-2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0545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3"/>
                </a:solidFill>
              </a:rPr>
              <a:t>So x(t) is a 5th-order polynomial: 6 unknowns</a:t>
            </a:r>
            <a:endParaRPr lang="en-US" sz="1600" dirty="0"/>
          </a:p>
        </p:txBody>
      </p:sp>
      <p:sp>
        <p:nvSpPr>
          <p:cNvPr id="12" name="q-num-3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1638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3"/>
                </a:solidFill>
              </a:rPr>
              <a:t>6 boundary conditions (pos, vel, acc at t=0 and T)</a:t>
            </a:r>
            <a:endParaRPr lang="en-US" sz="1600" dirty="0"/>
          </a:p>
        </p:txBody>
      </p:sp>
      <p:sp>
        <p:nvSpPr>
          <p:cNvPr id="15" name="q-num-4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8221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3"/>
                </a:solidFill>
              </a:rPr>
              <a:t>c0, c1, c2 are trivial; c3..c5 come from a 3x3 linear solve</a:t>
            </a:r>
            <a:endParaRPr lang="en-US" sz="1600" dirty="0"/>
          </a:p>
        </p:txBody>
      </p:sp>
      <p:sp>
        <p:nvSpPr>
          <p:cNvPr id="18" name="quintic-card"/>
          <p:cNvSpPr/>
          <p:nvPr/>
        </p:nvSpPr>
        <p:spPr>
          <a:xfrm>
            <a:off x="6400800" y="1188720"/>
            <a:ext cx="2286000" cy="2926080"/>
          </a:xfrm>
          <a:prstGeom prst="roundRect">
            <a:avLst>
              <a:gd name="adj" fmla="val 4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1325880"/>
            <a:ext cx="2011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Verified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All six boundary conditions match to 1e-9 at t = 0 and t = 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Strategy: cruise, then precision intercept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Cruise at 1 m/s for 3.3 s while the Kalman filter watches the gate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Then plan ONE quintic (0.7 s) to the gate's forecast state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</a:rPr>
              <a:t>Long-range prediction fails: constant velocity is valid only well under 1/4 of the period (0.7 s is 12%)</a:t>
            </a:r>
            <a:endParaRPr lang="en-US" sz="1500" dirty="0"/>
          </a:p>
        </p:txBody>
      </p:sp>
      <p:pic>
        <p:nvPicPr>
          <p:cNvPr id="4" name="Image 0" descr="/mnt/user-data/outputs/MPC_FINAL/results/2_single_g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606040"/>
            <a:ext cx="8229600" cy="217385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100% in the designed setup</a:t>
            </a:r>
            <a:endParaRPr lang="en-US" sz="3000" dirty="0"/>
          </a:p>
        </p:txBody>
      </p:sp>
      <p:sp>
        <p:nvSpPr>
          <p:cNvPr id="3" name="res-card-0"/>
          <p:cNvSpPr/>
          <p:nvPr/>
        </p:nvSpPr>
        <p:spPr>
          <a:xfrm>
            <a:off x="457200" y="109728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155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single gate, 100 seeds</a:t>
            </a:r>
            <a:endParaRPr lang="en-US" sz="1300" dirty="0"/>
          </a:p>
        </p:txBody>
      </p:sp>
      <p:sp>
        <p:nvSpPr>
          <p:cNvPr id="6" name="res-card-1"/>
          <p:cNvSpPr/>
          <p:nvPr/>
        </p:nvSpPr>
        <p:spPr>
          <a:xfrm>
            <a:off x="3291840" y="109728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1155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3-gate chain, 50 seeds</a:t>
            </a:r>
            <a:endParaRPr lang="en-US" sz="1300" dirty="0"/>
          </a:p>
        </p:txBody>
      </p:sp>
      <p:sp>
        <p:nvSpPr>
          <p:cNvPr id="9" name="res-card-2"/>
          <p:cNvSpPr/>
          <p:nvPr/>
        </p:nvSpPr>
        <p:spPr>
          <a:xfrm>
            <a:off x="6126480" y="109728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1155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0.13 m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median miss (worst 0.21 m)</a:t>
            </a:r>
            <a:endParaRPr lang="en-US" sz="1300" dirty="0"/>
          </a:p>
        </p:txBody>
      </p:sp>
      <p:pic>
        <p:nvPicPr>
          <p:cNvPr id="12" name="Image 0" descr="/mnt/user-data/outputs/MPC_FINAL/results/3_three_g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31720"/>
            <a:ext cx="5852160" cy="2281411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492240" y="246888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</a:rPr>
              <a:t>Gates are phase-synced: each is at the same point of its cycle when the drone arrives. Next slides show what happens without that help.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prediction necessary? Yes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18872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Same pipeline, three planners; only the gate information differs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At 1 m/s peak speed: 83% vs 25% vs 24%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Only on very slow gates do all three work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Filtering alone does not help; the velocity forecast is what matters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limits</a:t>
            </a:r>
            <a:endParaRPr lang="en-US" sz="3000" dirty="0"/>
          </a:p>
        </p:txBody>
      </p:sp>
      <p:sp>
        <p:nvSpPr>
          <p:cNvPr id="3" name="lim-card-0"/>
          <p:cNvSpPr/>
          <p:nvPr/>
        </p:nvSpPr>
        <p:spPr>
          <a:xfrm>
            <a:off x="457200" y="1143000"/>
            <a:ext cx="4754880" cy="822960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430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143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</a:rPr>
              <a:t>with random gate phase (100% when phase-synced)</a:t>
            </a:r>
            <a:endParaRPr lang="en-US" sz="1400" dirty="0"/>
          </a:p>
        </p:txBody>
      </p:sp>
      <p:sp>
        <p:nvSpPr>
          <p:cNvPr id="6" name="lim-card-1"/>
          <p:cNvSpPr/>
          <p:nvPr/>
        </p:nvSpPr>
        <p:spPr>
          <a:xfrm>
            <a:off x="457200" y="2103120"/>
            <a:ext cx="4754880" cy="822960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1031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03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</a:rPr>
              <a:t>when sensor noise is 20 cm (84% at 2 cm)</a:t>
            </a:r>
            <a:endParaRPr lang="en-US" sz="1400" dirty="0"/>
          </a:p>
        </p:txBody>
      </p:sp>
      <p:sp>
        <p:nvSpPr>
          <p:cNvPr id="9" name="lim-card-2"/>
          <p:cNvSpPr/>
          <p:nvPr/>
        </p:nvSpPr>
        <p:spPr>
          <a:xfrm>
            <a:off x="457200" y="3063240"/>
            <a:ext cx="4754880" cy="822960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0632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063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</a:rPr>
              <a:t>at the fastest gate (1.6 m/s peak)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1143000"/>
            <a:ext cx="3200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Why it fails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</a:rPr>
              <a:t>A constant-velocity forecast cannot see a sine reversing, so it is weakest when the gate turns around near the crossing. Slow gates fail for a different reason: up to 1 m of sideways travel in 0.7 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Next step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</a:rPr>
              <a:t>Fit a sinusoid (or a constant-acceleration filter) to forecast through reversals.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wrong, and how we fixed it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46888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Symptom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Wrong Q matrix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velocity error 0.9 m/s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white-noise-acceleration Q: 0.25 m/s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Long prediction horizon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forecast through reversal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cruise, then 0.7 s intercept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Tilt saturation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above ~2 m/s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keep speeds near 1 m/s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Lateral offset carried over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chain collapsed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re-centre cruise on next gate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Leg time vs gate period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3-gate success 0 to 3%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phase sync per gate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Quintic dipped backwards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x end-velocity ≈ 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</a:rPr>
                        <a:t>force x velocity = cruise speed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and how to run it</a:t>
            </a:r>
            <a:endParaRPr lang="en-US" sz="3000" dirty="0"/>
          </a:p>
        </p:txBody>
      </p:sp>
      <p:pic>
        <p:nvPicPr>
          <p:cNvPr id="3" name="Image 0" descr="/mnt/user-data/outputs/MPC_FINAL/results/gate_crashers_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23633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852160" y="118872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run_all.py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</a:rPr>
              <a:t>runs 5 steps (~5 min):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</a:rPr>
              <a:t>components, single gate, 3 gates, baselines, animation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</a:rPr>
              <a:t>Output: results/*.png and gate_crashers.mp4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0"/>
                </a:solidFill>
              </a:rPr>
              <a:t>Software-only: Python + NumPy + Matplotlib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teCrashers">
  <a:themeElements>
    <a:clrScheme name="GateCrashers">
      <a:dk1>
        <a:srgbClr val="1A2233"/>
      </a:dk1>
      <a:lt1>
        <a:srgbClr val="FFFFFF"/>
      </a:lt1>
      <a:dk2>
        <a:srgbClr val="0B1F3A"/>
      </a:dk2>
      <a:lt2>
        <a:srgbClr val="EEF2F7"/>
      </a:lt2>
      <a:accent1>
        <a:srgbClr val="F5A623"/>
      </a:accent1>
      <a:accent2>
        <a:srgbClr val="1FB5A8"/>
      </a:accent2>
      <a:accent3>
        <a:srgbClr val="E4572E"/>
      </a:accent3>
      <a:accent4>
        <a:srgbClr val="3A6EA5"/>
      </a:accent4>
      <a:accent5>
        <a:srgbClr val="6B7A90"/>
      </a:accent5>
      <a:accent6>
        <a:srgbClr val="2E9E5B"/>
      </a:accent6>
      <a:hlink>
        <a:srgbClr val="3A6EA5"/>
      </a:hlink>
      <a:folHlink>
        <a:srgbClr val="6B7A90"/>
      </a:folHlink>
    </a:clrScheme>
    <a:fontScheme name="GateCrash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Gate-Crashers</dc:title>
  <dc:subject>PptxGenJS Presentation</dc:subject>
  <dc:creator>Ankita Mehta</dc:creator>
  <cp:lastModifiedBy>Ankita Mehta</cp:lastModifiedBy>
  <cp:revision>1</cp:revision>
  <dcterms:created xsi:type="dcterms:W3CDTF">2026-10-23T05:56:11Z</dcterms:created>
  <dcterms:modified xsi:type="dcterms:W3CDTF">2026-10-23T05:56:11Z</dcterms:modified>
</cp:coreProperties>
</file>